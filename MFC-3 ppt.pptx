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8" r:id="rId9"/>
    <p:sldId id="267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A52D7-9247-46F9-9041-0D6D0361A293}" v="412" dt="2025-08-27T16:56:58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4" d="100"/>
          <a:sy n="84" d="100"/>
        </p:scale>
        <p:origin x="5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9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9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63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092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18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14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64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03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83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17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4014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98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3489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004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661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27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57915-6145-4C96-9EE4-F04AC35D0FE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2060F4A-5118-4565-9D4A-068C348A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46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0531-D12A-4805-C0BA-D2CF49350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487" y="1018686"/>
            <a:ext cx="7766936" cy="2237276"/>
          </a:xfrm>
        </p:spPr>
        <p:txBody>
          <a:bodyPr>
            <a:normAutofit fontScale="90000"/>
          </a:bodyPr>
          <a:lstStyle/>
          <a:p>
            <a:r>
              <a:rPr lang="en-US" dirty="0"/>
              <a:t>PRECONDITIONING ADMM FOR FAST DECENTRALIZED OPTIMIZATION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C4D81-5110-7D91-7C88-9188C0EEB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408362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Team – 16</a:t>
            </a:r>
          </a:p>
          <a:p>
            <a:pPr algn="l"/>
            <a:r>
              <a:rPr lang="en-IN" dirty="0" err="1"/>
              <a:t>Ch.Priya</a:t>
            </a:r>
            <a:r>
              <a:rPr lang="en-IN" dirty="0"/>
              <a:t> </a:t>
            </a:r>
            <a:r>
              <a:rPr lang="en-IN" dirty="0" err="1"/>
              <a:t>madhav</a:t>
            </a:r>
            <a:r>
              <a:rPr lang="en-IN" dirty="0"/>
              <a:t> – CB.SC.U4AIE24211</a:t>
            </a:r>
          </a:p>
          <a:p>
            <a:pPr algn="l"/>
            <a:r>
              <a:rPr lang="en-IN" dirty="0" err="1"/>
              <a:t>B.Cibi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 – CB.SC.U4AIE24212</a:t>
            </a:r>
          </a:p>
          <a:p>
            <a:pPr algn="l"/>
            <a:r>
              <a:rPr lang="en-IN" dirty="0" err="1"/>
              <a:t>G.G.Rishi</a:t>
            </a:r>
            <a:r>
              <a:rPr lang="en-IN" dirty="0"/>
              <a:t> kanth  – CB.SC.U4AIE24218</a:t>
            </a:r>
          </a:p>
          <a:p>
            <a:pPr algn="l"/>
            <a:r>
              <a:rPr lang="en-IN" dirty="0" err="1"/>
              <a:t>T.Bala</a:t>
            </a:r>
            <a:r>
              <a:rPr lang="en-IN" dirty="0"/>
              <a:t> </a:t>
            </a:r>
            <a:r>
              <a:rPr lang="en-IN" dirty="0" err="1"/>
              <a:t>prassana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– CB.SC.U4AIE24256</a:t>
            </a:r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03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5F2E-3DB5-4F18-2BBC-3CAD22587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74" y="591425"/>
            <a:ext cx="8596668" cy="1320800"/>
          </a:xfrm>
        </p:spPr>
        <p:txBody>
          <a:bodyPr>
            <a:normAutofit/>
          </a:bodyPr>
          <a:lstStyle/>
          <a:p>
            <a:r>
              <a:rPr lang="en-IN" sz="28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FBD3-F86E-F6ED-2484-3C947DB51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92" y="1912225"/>
            <a:ext cx="10392747" cy="60307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Decentralized optimization has become a key framework for addressing large-scale problems in distributed systems such as multi-agent networks, sensor networks, and federated learning.</a:t>
            </a:r>
          </a:p>
          <a:p>
            <a:pPr>
              <a:lnSpc>
                <a:spcPct val="200000"/>
              </a:lnSpc>
            </a:pPr>
            <a:r>
              <a:rPr lang="en-US" dirty="0"/>
              <a:t>It enables solving optimization tasks using only local computations and communication with neighboring nodes, reducing reliance on centralized control.</a:t>
            </a:r>
          </a:p>
          <a:p>
            <a:pPr>
              <a:lnSpc>
                <a:spcPct val="200000"/>
              </a:lnSpc>
            </a:pPr>
            <a:r>
              <a:rPr lang="en-US" dirty="0"/>
              <a:t>This work investigates the use of preconditioning strategies to enhance the performance and convergence of decentralized ADMM.</a:t>
            </a:r>
          </a:p>
        </p:txBody>
      </p:sp>
    </p:spTree>
    <p:extLst>
      <p:ext uri="{BB962C8B-B14F-4D97-AF65-F5344CB8AC3E}">
        <p14:creationId xmlns:p14="http://schemas.microsoft.com/office/powerpoint/2010/main" val="1338553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68AC-1EEA-C7ED-1D8C-2C010B2F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94" y="358140"/>
            <a:ext cx="8596668" cy="1320800"/>
          </a:xfrm>
        </p:spPr>
        <p:txBody>
          <a:bodyPr/>
          <a:lstStyle/>
          <a:p>
            <a:r>
              <a:rPr lang="en-US" b="1" dirty="0"/>
              <a:t>The Challenge of Decentralized Optimization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C4FDF-1D61-0FA7-546D-03866EE823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3588" y="2247900"/>
                <a:ext cx="10540152" cy="378584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IN" sz="2400" dirty="0"/>
                  <a:t>Multi-Robot Coordination (consensus, formation control)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400" dirty="0"/>
                  <a:t>Federated Learning (training ML models on edge devices)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400" dirty="0"/>
                  <a:t>Minimize a global sum of functions using only local computation and neighbor-to-neighbor communication. the equation is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IN" sz="2800" b="0" i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m:rPr>
                                <m:sty m:val="p"/>
                              </m:rPr>
                              <a:rPr lang="en-US" sz="280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</m:nary>
                      </m:e>
                    </m:func>
                  </m:oMath>
                </a14:m>
                <a:endParaRPr lang="en-US" sz="2800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C4FDF-1D61-0FA7-546D-03866EE823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588" y="2247900"/>
                <a:ext cx="10540152" cy="3785842"/>
              </a:xfrm>
              <a:blipFill>
                <a:blip r:embed="rId2"/>
                <a:stretch>
                  <a:fillRect l="-4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23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DDD4-DC4F-157A-B416-7F6A87F88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74" y="457200"/>
            <a:ext cx="8596668" cy="1320800"/>
          </a:xfrm>
        </p:spPr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D797C-7B67-86BF-28DA-7A9287219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94" y="2130109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Accelerate Convergence</a:t>
            </a:r>
            <a:r>
              <a:rPr lang="en-US" dirty="0"/>
              <a:t>: Develop techniques that reduce the number of iterations and communication rounds required for decentralized ADMM to achieve consensus, thereby improving efficiency.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Integrate Preconditioning</a:t>
            </a:r>
            <a:r>
              <a:rPr lang="en-US" dirty="0"/>
              <a:t>: Design and implement a fully decentralized preconditioning strategy that effectively addresses ill-conditioned local objectives and enhances overall stability.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Ensure Practicality</a:t>
            </a:r>
            <a:r>
              <a:rPr lang="en-US" dirty="0"/>
              <a:t>: Maintain scalability, privacy-preservation, and a balanced computation–communication trade-off, ensuring the method is suitable for real-world distributed systems.</a:t>
            </a:r>
          </a:p>
        </p:txBody>
      </p:sp>
    </p:spTree>
    <p:extLst>
      <p:ext uri="{BB962C8B-B14F-4D97-AF65-F5344CB8AC3E}">
        <p14:creationId xmlns:p14="http://schemas.microsoft.com/office/powerpoint/2010/main" val="3538334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0FAE-5C80-FD3A-27C9-1CD10688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14" y="548640"/>
            <a:ext cx="8596668" cy="1320800"/>
          </a:xfrm>
        </p:spPr>
        <p:txBody>
          <a:bodyPr/>
          <a:lstStyle/>
          <a:p>
            <a:r>
              <a:rPr lang="en-US" b="1" dirty="0"/>
              <a:t> Preconditioning: A Classic Idea for Acceleration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962B-1879-1BD8-C326-DC7003602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434" y="2139027"/>
            <a:ext cx="8596668" cy="42846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Preconditioning?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800" dirty="0"/>
              <a:t>Transforming a problem into a better-conditioned one that has the same solution.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Analogy: "It's easier to climb a hill after it's been terraced into gentler slopes.“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Standard Use:</a:t>
            </a:r>
            <a:r>
              <a:rPr lang="en-US" dirty="0"/>
              <a:t> In gradient methods and Conjugate Gradient, preconditioning is crucial for ill-conditioned problems.</a:t>
            </a:r>
          </a:p>
          <a:p>
            <a:pPr>
              <a:lnSpc>
                <a:spcPct val="150000"/>
              </a:lnSpc>
            </a:pPr>
            <a:r>
              <a:rPr lang="en-US" dirty="0"/>
              <a:t> Only the local computation changes. The preconditioning is </a:t>
            </a:r>
            <a:r>
              <a:rPr lang="en-US" b="1" dirty="0"/>
              <a:t>fully decentralized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2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3A31-7672-5A4D-19BF-A86AA0F9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4" y="731520"/>
            <a:ext cx="8596668" cy="1320800"/>
          </a:xfrm>
        </p:spPr>
        <p:txBody>
          <a:bodyPr/>
          <a:lstStyle/>
          <a:p>
            <a:r>
              <a:rPr lang="en-US" b="1" dirty="0"/>
              <a:t>Algorithm Design: Standard vs. Preconditioned ADMM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772978-D622-690B-8E6D-1C50B9E8C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974" y="2693989"/>
                <a:ext cx="11712786" cy="388077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IN" b="1" dirty="0"/>
                  <a:t>Standard ADMM (x-update) </a:t>
                </a:r>
                <a:r>
                  <a:rPr lang="en-IN" sz="2400" b="1" dirty="0"/>
                  <a:t>: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IN" sz="2400" b="1" i="1" dirty="0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IN" sz="2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sz="2400" b="1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sz="2400" b="1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 b="0" i="0" dirty="0" err="1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IN" sz="2400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 b="0" i="0" dirty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𝝆</m:t>
                                    </m:r>
                                  </m:num>
                                  <m:den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𝑨𝒙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sSup>
                                      <m:sSupPr>
                                        <m:ctrlP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𝒛</m:t>
                                        </m:r>
                                      </m:e>
                                      <m:sup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p>
                                    </m:sSup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p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p>
                                    </m:s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b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func>
                    <m:r>
                      <m:rPr>
                        <m:lit/>
                      </m:rPr>
                      <a:rPr lang="en-IN" sz="2400" b="1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2400" b="1" dirty="0"/>
              </a:p>
              <a:p>
                <a:pPr>
                  <a:lnSpc>
                    <a:spcPct val="150000"/>
                  </a:lnSpc>
                </a:pPr>
                <a:r>
                  <a:rPr lang="en-IN" b="1" dirty="0"/>
                  <a:t>Preconditioned ADMM (x-update) </a:t>
                </a:r>
                <a14:m>
                  <m:oMath xmlns:m="http://schemas.openxmlformats.org/officeDocument/2006/math">
                    <m:r>
                      <a:rPr lang="en-IN" sz="2400" b="1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lit/>
                      </m:rPr>
                      <a:rPr lang="en-IN" sz="2400" b="1" i="1" dirty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IN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sz="2400" b="1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sz="2400" b="1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 b="0" i="0" dirty="0" err="1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IN" sz="2400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 b="0" i="0" dirty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IN" sz="2400" b="1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𝝆</m:t>
                                    </m:r>
                                  </m:num>
                                  <m:den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𝑺𝑨𝒙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𝑺𝑩</m:t>
                                    </m:r>
                                    <m:sSup>
                                      <m:sSupPr>
                                        <m:ctrlP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𝒛</m:t>
                                        </m:r>
                                      </m:e>
                                      <m:sup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p>
                                    </m:sSup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𝑺𝒄</m:t>
                                    </m:r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p>
                                        <m:r>
                                          <a:rPr lang="en-IN" sz="2400" b="1" i="1" dirty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p>
                                    </m:s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b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IN" sz="24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func>
                    <m:r>
                      <m:rPr>
                        <m:lit/>
                      </m:rPr>
                      <a:rPr lang="en-IN" sz="2400" b="1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b="1" dirty="0"/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Key Point:</a:t>
                </a:r>
                <a:r>
                  <a:rPr lang="en-US" dirty="0"/>
                  <a:t> The communication structure remains identical. Only the local computation changes. The preconditioning is </a:t>
                </a:r>
                <a:r>
                  <a:rPr lang="en-US" b="1" dirty="0"/>
                  <a:t>fully decentralized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772978-D622-690B-8E6D-1C50B9E8C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974" y="2693989"/>
                <a:ext cx="11712786" cy="3880773"/>
              </a:xfrm>
              <a:blipFill>
                <a:blip r:embed="rId2"/>
                <a:stretch>
                  <a:fillRect l="-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37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0022-A8FD-8576-842C-1E351383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586740"/>
            <a:ext cx="8596668" cy="1320800"/>
          </a:xfrm>
        </p:spPr>
        <p:txBody>
          <a:bodyPr/>
          <a:lstStyle/>
          <a:p>
            <a:r>
              <a:rPr lang="en-IN" b="1" dirty="0"/>
              <a:t>Simulation Setup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C5D94-83BE-0DB8-FFF5-FC8FABA660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760" y="2100581"/>
                <a:ext cx="10096500" cy="388112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dirty="0"/>
                  <a:t> </a:t>
                </a:r>
                <a:r>
                  <a:rPr lang="en-IN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Decentralized Linear Least Squares </a:t>
                </a:r>
                <a:r>
                  <a:rPr lang="en-IN" dirty="0"/>
                  <a:t>:  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IN" i="1" smtClean="0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lit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func>
                    <m:r>
                      <m:rPr>
                        <m:lit/>
                      </m:rPr>
                      <a:rPr lang="en-I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:r>
                  <a:rPr lang="en-IN" dirty="0"/>
                  <a:t>where the data </a:t>
                </a:r>
                <a:r>
                  <a:rPr lang="en-US" dirty="0"/>
                  <a:t>is privately held by each agent  No agent shares its raw data; they only communicate with neighbors to find the agreed-upon optimal solution 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/>
                  <a:t>Network Topology : </a:t>
                </a:r>
                <a:r>
                  <a:rPr lang="en-US" b="1" dirty="0"/>
                  <a:t>Structure:</a:t>
                </a:r>
                <a:r>
                  <a:rPr lang="en-US" dirty="0"/>
                  <a:t> A </a:t>
                </a:r>
                <a:r>
                  <a:rPr lang="en-US" b="1" dirty="0"/>
                  <a:t>ring graph</a:t>
                </a:r>
                <a:r>
                  <a:rPr lang="en-US" dirty="0"/>
                  <a:t> (to ensure connectivity) augmented with </a:t>
                </a:r>
                <a:r>
                  <a:rPr lang="en-US" b="1" dirty="0"/>
                  <a:t>random edges</a:t>
                </a:r>
                <a:r>
                  <a:rPr lang="en-US" dirty="0"/>
                  <a:t> (with a 30% probability for each possible edge). This creates a non-trivial network that is neither a simple ring nor a complete graph, mimicking realistic distributed systems.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Importance:</a:t>
                </a:r>
                <a:r>
                  <a:rPr lang="en-US" dirty="0"/>
                  <a:t> The topology determines how quickly information diffuses, impacting convergence.</a:t>
                </a:r>
              </a:p>
              <a:p>
                <a:pPr>
                  <a:lnSpc>
                    <a:spcPct val="150000"/>
                  </a:lnSpc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C5D94-83BE-0DB8-FFF5-FC8FABA660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760" y="2100581"/>
                <a:ext cx="10096500" cy="3881120"/>
              </a:xfrm>
              <a:blipFill>
                <a:blip r:embed="rId2"/>
                <a:stretch>
                  <a:fillRect l="-121" t="-8805" b="-91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4606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F113B82-84E1-05AC-D344-174B7A257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70" y="1354269"/>
            <a:ext cx="4626274" cy="125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C6F56D58-3AA6-AAF0-E1B3-FC9D6D70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26" y="2980193"/>
            <a:ext cx="6214950" cy="92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210C574-8566-5B0D-B4BD-8A6C78B3F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70" y="4017062"/>
            <a:ext cx="7964299" cy="71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6349E65D-324B-3DF6-0DD6-9A66758A0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70" y="4872610"/>
            <a:ext cx="7865686" cy="72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675F67A-C06B-9229-57E7-3914A0347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26" y="5733514"/>
            <a:ext cx="8079046" cy="50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6A55C4-A547-9BA3-E38F-5C860E208FB1}"/>
              </a:ext>
            </a:extLst>
          </p:cNvPr>
          <p:cNvSpPr txBox="1"/>
          <p:nvPr/>
        </p:nvSpPr>
        <p:spPr>
          <a:xfrm>
            <a:off x="132237" y="165766"/>
            <a:ext cx="5285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OPTIMIZATION PROBLEM</a:t>
            </a:r>
          </a:p>
        </p:txBody>
      </p:sp>
    </p:spTree>
    <p:extLst>
      <p:ext uri="{BB962C8B-B14F-4D97-AF65-F5344CB8AC3E}">
        <p14:creationId xmlns:p14="http://schemas.microsoft.com/office/powerpoint/2010/main" val="1868262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>
            <a:extLst>
              <a:ext uri="{FF2B5EF4-FFF2-40B4-BE49-F238E27FC236}">
                <a16:creationId xmlns:a16="http://schemas.microsoft.com/office/drawing/2014/main" id="{5C7C9978-1AD7-7A03-6ED1-276FE5A27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34" y="174686"/>
            <a:ext cx="7598410" cy="104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02ACBF4-B067-3A14-C107-47B804F08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9" y="1402207"/>
            <a:ext cx="7598410" cy="104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C18239F1-9EF7-E279-89B5-9938B18A2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8" y="2629729"/>
            <a:ext cx="8180954" cy="104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9B5302E-5020-7E25-1A14-A72211BDF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8" y="3870960"/>
            <a:ext cx="4754457" cy="129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1AA0D4B5-BEFE-AB78-55B7-A22ADE42B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29" y="5084772"/>
            <a:ext cx="7899715" cy="104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68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C97F-3E57-57C6-1F88-251FE213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54" y="386427"/>
            <a:ext cx="8596668" cy="1320800"/>
          </a:xfrm>
        </p:spPr>
        <p:txBody>
          <a:bodyPr/>
          <a:lstStyle/>
          <a:p>
            <a:r>
              <a:rPr lang="en-IN" b="1" dirty="0"/>
              <a:t>Data Generation 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988641-DA38-DE12-7DA5-72C2202F08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3108" y="1707227"/>
                <a:ext cx="8596668" cy="443449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IN" sz="2200" b="1" dirty="0"/>
                  <a:t>Local Matrices </a:t>
                </a:r>
                <a:r>
                  <a:rPr lang="en-IN" sz="2200" dirty="0"/>
                  <a:t>Each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200" dirty="0"/>
                  <a:t> is generated to be </a:t>
                </a:r>
                <a:r>
                  <a:rPr lang="en-IN" sz="2200" b="1" dirty="0"/>
                  <a:t>ill-conditioned</a:t>
                </a:r>
                <a:r>
                  <a:rPr lang="en-IN" sz="2200" dirty="0"/>
                  <a:t>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200" dirty="0"/>
                  <a:t>We create a random matrix with a high condition number (~100) by generating its singular values from a non-uniform distribution.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200" dirty="0"/>
                  <a:t>A small fraction of a common matrix is added to ensure the local problems are related and a consensus solution exists.</a:t>
                </a:r>
              </a:p>
              <a:p>
                <a:pPr>
                  <a:lnSpc>
                    <a:spcPct val="200000"/>
                  </a:lnSpc>
                </a:pPr>
                <a:endParaRPr lang="en-IN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988641-DA38-DE12-7DA5-72C2202F0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3108" y="1707227"/>
                <a:ext cx="8596668" cy="4434493"/>
              </a:xfrm>
              <a:blipFill>
                <a:blip r:embed="rId2"/>
                <a:stretch>
                  <a:fillRect l="-496" r="-17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98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487E-9178-0C9C-0CA1-2133489F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334" y="480060"/>
            <a:ext cx="8596668" cy="1320800"/>
          </a:xfrm>
        </p:spPr>
        <p:txBody>
          <a:bodyPr/>
          <a:lstStyle/>
          <a:p>
            <a:r>
              <a:rPr lang="en-IN" b="1" dirty="0"/>
              <a:t> 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C896-51CD-40A5-7080-A294EC4D4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4" y="2061529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Preconditioning effectively accelerates the convergence of decentralized ADMM by mitigating ill-conditioning.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The proposed approach improves efficiency while preserving full decentralization and scalability.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It offers a practical and easily integrable solution for real-world distributed optimization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404753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6BBB-AC78-B83C-CDBF-E47B2EB70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8142"/>
            <a:ext cx="9144000" cy="23876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12457-95B6-75D3-0720-187C22845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7856375"/>
            <a:ext cx="9144000" cy="4665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1026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</TotalTime>
  <Words>559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ADLaM Display</vt:lpstr>
      <vt:lpstr>Arial</vt:lpstr>
      <vt:lpstr>Cambria Math</vt:lpstr>
      <vt:lpstr>Trebuchet MS</vt:lpstr>
      <vt:lpstr>Wingdings 3</vt:lpstr>
      <vt:lpstr>Facet</vt:lpstr>
      <vt:lpstr>PRECONDITIONING ADMM FOR FAST DECENTRALIZED OPTIMIZATION</vt:lpstr>
      <vt:lpstr>Introduction</vt:lpstr>
      <vt:lpstr>The Challenge of Decentralized Optimization</vt:lpstr>
      <vt:lpstr>Objective</vt:lpstr>
      <vt:lpstr> Preconditioning: A Classic Idea for Acceleration</vt:lpstr>
      <vt:lpstr>Algorithm Design: Standard vs. Preconditioned ADMM</vt:lpstr>
      <vt:lpstr>Simulation Setup </vt:lpstr>
      <vt:lpstr>PowerPoint Presentation</vt:lpstr>
      <vt:lpstr>PowerPoint Presentation</vt:lpstr>
      <vt:lpstr>Data Generation </vt:lpstr>
      <vt:lpstr> 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cibikumar@outlook.com</dc:creator>
  <cp:lastModifiedBy>rishi kanth</cp:lastModifiedBy>
  <cp:revision>4</cp:revision>
  <dcterms:created xsi:type="dcterms:W3CDTF">2025-08-21T16:22:29Z</dcterms:created>
  <dcterms:modified xsi:type="dcterms:W3CDTF">2025-08-27T17:04:14Z</dcterms:modified>
</cp:coreProperties>
</file>